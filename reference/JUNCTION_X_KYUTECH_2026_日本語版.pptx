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67" r:id="rId5"/>
    <p:sldId id="257" r:id="rId6"/>
    <p:sldId id="258" r:id="rId7"/>
    <p:sldId id="269" r:id="rId8"/>
    <p:sldId id="259" r:id="rId9"/>
    <p:sldId id="268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C9DE1B-20DF-4DB5-A81E-910DA066DC99}" v="2" dt="2026-07-10T01:14:14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松浦 水咲" userId="45e8e85f-28d5-4af0-aceb-e0f10b641354" providerId="ADAL" clId="{140CEA5F-A6CE-4DE9-BF6E-5FB797687C6D}"/>
    <pc:docChg chg="custSel modSld">
      <pc:chgData name="松浦 水咲" userId="45e8e85f-28d5-4af0-aceb-e0f10b641354" providerId="ADAL" clId="{140CEA5F-A6CE-4DE9-BF6E-5FB797687C6D}" dt="2026-07-10T01:14:17.844" v="30" actId="1076"/>
      <pc:docMkLst>
        <pc:docMk/>
      </pc:docMkLst>
      <pc:sldChg chg="addSp delSp modSp mod">
        <pc:chgData name="松浦 水咲" userId="45e8e85f-28d5-4af0-aceb-e0f10b641354" providerId="ADAL" clId="{140CEA5F-A6CE-4DE9-BF6E-5FB797687C6D}" dt="2026-07-10T01:14:17.844" v="30" actId="1076"/>
        <pc:sldMkLst>
          <pc:docMk/>
          <pc:sldMk cId="0" sldId="266"/>
        </pc:sldMkLst>
        <pc:picChg chg="add mod">
          <ac:chgData name="松浦 水咲" userId="45e8e85f-28d5-4af0-aceb-e0f10b641354" providerId="ADAL" clId="{140CEA5F-A6CE-4DE9-BF6E-5FB797687C6D}" dt="2026-07-08T04:19:43.101" v="25" actId="1076"/>
          <ac:picMkLst>
            <pc:docMk/>
            <pc:sldMk cId="0" sldId="266"/>
            <ac:picMk id="5" creationId="{96DDB855-2F48-4E56-2DB9-201754F9B556}"/>
          </ac:picMkLst>
        </pc:picChg>
        <pc:picChg chg="add mod">
          <ac:chgData name="松浦 水咲" userId="45e8e85f-28d5-4af0-aceb-e0f10b641354" providerId="ADAL" clId="{140CEA5F-A6CE-4DE9-BF6E-5FB797687C6D}" dt="2026-07-10T01:14:17.844" v="30" actId="1076"/>
          <ac:picMkLst>
            <pc:docMk/>
            <pc:sldMk cId="0" sldId="266"/>
            <ac:picMk id="11" creationId="{3CED7957-88A7-0754-3AA1-C866ABE59BCB}"/>
          </ac:picMkLst>
        </pc:picChg>
        <pc:picChg chg="add mod">
          <ac:chgData name="松浦 水咲" userId="45e8e85f-28d5-4af0-aceb-e0f10b641354" providerId="ADAL" clId="{140CEA5F-A6CE-4DE9-BF6E-5FB797687C6D}" dt="2026-07-08T04:19:50.774" v="28" actId="1036"/>
          <ac:picMkLst>
            <pc:docMk/>
            <pc:sldMk cId="0" sldId="266"/>
            <ac:picMk id="13" creationId="{027D8A78-F721-C933-37D8-B888352BCE39}"/>
          </ac:picMkLst>
        </pc:picChg>
        <pc:picChg chg="add mod">
          <ac:chgData name="松浦 水咲" userId="45e8e85f-28d5-4af0-aceb-e0f10b641354" providerId="ADAL" clId="{140CEA5F-A6CE-4DE9-BF6E-5FB797687C6D}" dt="2026-07-08T04:19:50.774" v="28" actId="1036"/>
          <ac:picMkLst>
            <pc:docMk/>
            <pc:sldMk cId="0" sldId="266"/>
            <ac:picMk id="14" creationId="{61497CDE-EA4A-2152-AE0E-67593F37ED16}"/>
          </ac:picMkLst>
        </pc:picChg>
      </pc:sldChg>
      <pc:sldChg chg="modSp mod">
        <pc:chgData name="松浦 水咲" userId="45e8e85f-28d5-4af0-aceb-e0f10b641354" providerId="ADAL" clId="{140CEA5F-A6CE-4DE9-BF6E-5FB797687C6D}" dt="2026-07-08T04:18:14.854" v="22" actId="20577"/>
        <pc:sldMkLst>
          <pc:docMk/>
          <pc:sldMk cId="0" sldId="269"/>
        </pc:sldMkLst>
        <pc:spChg chg="mod">
          <ac:chgData name="松浦 水咲" userId="45e8e85f-28d5-4af0-aceb-e0f10b641354" providerId="ADAL" clId="{140CEA5F-A6CE-4DE9-BF6E-5FB797687C6D}" dt="2026-07-08T04:18:14.854" v="22" actId="20577"/>
          <ac:spMkLst>
            <pc:docMk/>
            <pc:sldMk cId="0" sldId="269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79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1A2C4A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463040" y="3291840"/>
            <a:ext cx="3840480" cy="3840480"/>
          </a:xfrm>
          <a:prstGeom prst="ellipse">
            <a:avLst/>
          </a:prstGeom>
          <a:solidFill>
            <a:srgbClr val="241A3E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400" normalizeH="0" baseline="0" noProof="0" dirty="0">
                <a:ln>
                  <a:noFill/>
                </a:ln>
                <a:solidFill>
                  <a:srgbClr val="35E0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STUDENT-DRIVEN GLOBAL HACKATHON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Call for Hackers &amp; Creators!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1A28BE0-953A-3C12-951D-163F3F01A998}"/>
              </a:ext>
            </a:extLst>
          </p:cNvPr>
          <p:cNvSpPr/>
          <p:nvPr/>
        </p:nvSpPr>
        <p:spPr>
          <a:xfrm>
            <a:off x="685800" y="1170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5CD2392-9148-3CA1-4C4E-020038AEF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3" y="1278924"/>
            <a:ext cx="7821747" cy="1286804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9D2FDD73-0232-3713-5C46-FAAA63E40A31}"/>
              </a:ext>
            </a:extLst>
          </p:cNvPr>
          <p:cNvSpPr/>
          <p:nvPr/>
        </p:nvSpPr>
        <p:spPr>
          <a:xfrm>
            <a:off x="685800" y="2484563"/>
            <a:ext cx="2641600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5F883642-79AA-4E0C-21CB-4035B0A9C1B8}"/>
              </a:ext>
            </a:extLst>
          </p:cNvPr>
          <p:cNvSpPr/>
          <p:nvPr/>
        </p:nvSpPr>
        <p:spPr>
          <a:xfrm>
            <a:off x="658368" y="3703320"/>
            <a:ext cx="3639312" cy="566928"/>
          </a:xfrm>
          <a:prstGeom prst="roundRect">
            <a:avLst>
              <a:gd name="adj" fmla="val 14516"/>
            </a:avLst>
          </a:prstGeom>
          <a:solidFill>
            <a:srgbClr val="0B101E">
              <a:alpha val="78000"/>
            </a:srgbClr>
          </a:solidFill>
          <a:ln w="9525">
            <a:solidFill>
              <a:srgbClr val="2BA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3" name="Image 1" descr="assets/ic_cal.png">
            <a:extLst>
              <a:ext uri="{FF2B5EF4-FFF2-40B4-BE49-F238E27FC236}">
                <a16:creationId xmlns:a16="http://schemas.microsoft.com/office/drawing/2014/main" id="{9EBA9D8A-28A6-D027-1825-521236389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58768"/>
            <a:ext cx="256032" cy="256032"/>
          </a:xfrm>
          <a:prstGeom prst="rect">
            <a:avLst/>
          </a:prstGeom>
        </p:spPr>
      </p:pic>
      <p:sp>
        <p:nvSpPr>
          <p:cNvPr id="24" name="Text 3">
            <a:extLst>
              <a:ext uri="{FF2B5EF4-FFF2-40B4-BE49-F238E27FC236}">
                <a16:creationId xmlns:a16="http://schemas.microsoft.com/office/drawing/2014/main" id="{291457B5-AEE9-4ADD-CD2C-C4357E4158BC}"/>
              </a:ext>
            </a:extLst>
          </p:cNvPr>
          <p:cNvSpPr/>
          <p:nvPr/>
        </p:nvSpPr>
        <p:spPr>
          <a:xfrm>
            <a:off x="1133856" y="3858766"/>
            <a:ext cx="3294144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DATE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r>
              <a:rPr kumimoji="0" lang="ja-JP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年</a:t>
            </a:r>
            <a:r>
              <a:rPr kumimoji="0" lang="en-US" altLang="ja-JP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r>
              <a:rPr kumimoji="0" lang="ja-JP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月</a:t>
            </a:r>
            <a:r>
              <a:rPr kumimoji="0" lang="en-US" altLang="ja-JP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r>
              <a:rPr kumimoji="0" lang="ja-JP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日（金）～</a:t>
            </a:r>
            <a:r>
              <a:rPr kumimoji="0" lang="en-US" altLang="ja-JP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r>
              <a:rPr kumimoji="0" lang="ja-JP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日（日）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32D547A6-56F8-E7A8-50A5-8A49AF3FBD97}"/>
              </a:ext>
            </a:extLst>
          </p:cNvPr>
          <p:cNvSpPr/>
          <p:nvPr/>
        </p:nvSpPr>
        <p:spPr>
          <a:xfrm>
            <a:off x="4544568" y="3689604"/>
            <a:ext cx="3749040" cy="566928"/>
          </a:xfrm>
          <a:prstGeom prst="roundRect">
            <a:avLst>
              <a:gd name="adj" fmla="val 14516"/>
            </a:avLst>
          </a:prstGeom>
          <a:solidFill>
            <a:srgbClr val="0B101E">
              <a:alpha val="78000"/>
            </a:srgbClr>
          </a:solidFill>
          <a:ln w="9525">
            <a:solidFill>
              <a:srgbClr val="2BA8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6" name="Image 2" descr="assets/ic_pin.png">
            <a:extLst>
              <a:ext uri="{FF2B5EF4-FFF2-40B4-BE49-F238E27FC236}">
                <a16:creationId xmlns:a16="http://schemas.microsoft.com/office/drawing/2014/main" id="{18A72F6D-C8A8-DEE8-0200-D6A3BDF75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860640"/>
            <a:ext cx="256032" cy="256032"/>
          </a:xfrm>
          <a:prstGeom prst="rect">
            <a:avLst/>
          </a:prstGeom>
        </p:spPr>
      </p:pic>
      <p:sp>
        <p:nvSpPr>
          <p:cNvPr id="27" name="Text 5">
            <a:extLst>
              <a:ext uri="{FF2B5EF4-FFF2-40B4-BE49-F238E27FC236}">
                <a16:creationId xmlns:a16="http://schemas.microsoft.com/office/drawing/2014/main" id="{77423D81-1C98-6C96-6DB8-BECB3F6ED1DC}"/>
              </a:ext>
            </a:extLst>
          </p:cNvPr>
          <p:cNvSpPr/>
          <p:nvPr/>
        </p:nvSpPr>
        <p:spPr>
          <a:xfrm>
            <a:off x="5120640" y="3700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VENUE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GYMLABO（</a:t>
            </a:r>
            <a:r>
              <a:rPr kumimoji="0" lang="ja-JP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戸畑キャンパス）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JUNCTION とは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4747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1488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JUNCTION X </a:t>
            </a:r>
            <a:r>
              <a:rPr lang="en-US" sz="1400" b="1" dirty="0" err="1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KYUTECHは、JUNCTIONの公式サポートのもと、</a:t>
            </a:r>
            <a:r>
              <a:rPr lang="en-US" altLang="ja-JP" sz="1400" b="1" dirty="0" err="1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KCL</a:t>
            </a:r>
            <a:r>
              <a:rPr lang="ja-JP" altLang="en-US" sz="14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1400" b="1" dirty="0" err="1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学生が運営する国際ハッカソンです</a:t>
            </a:r>
            <a:r>
              <a:rPr lang="en-US" sz="14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8580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3日間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金曜午後から日曜まで</a:t>
            </a:r>
            <a:r>
              <a:rPr lang="ja-JP" altLang="en-US" sz="11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altLang="ja-JP" sz="11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r>
              <a:rPr lang="ja-JP" altLang="en-US" sz="11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日間で</a:t>
            </a:r>
            <a:endParaRPr lang="en-US" altLang="ja-JP" sz="1150" dirty="0">
              <a:solidFill>
                <a:srgbClr val="9BA3B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ja-JP" altLang="en-US" sz="11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プロダクトを開発</a:t>
            </a:r>
            <a:endParaRPr lang="en-US" altLang="ja-JP" sz="1150" dirty="0">
              <a:solidFill>
                <a:srgbClr val="9BA3B5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64408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3447288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国際イベント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47288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1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イベントの</a:t>
            </a:r>
            <a:r>
              <a:rPr lang="en-US" sz="1150" dirty="0" err="1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公用語は英語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25896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6208776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参加費無料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208776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食事・スナックは運営が提供</a:t>
            </a:r>
            <a:endParaRPr lang="en-US" sz="115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90B47FAA-801A-1155-4BAE-BA6D97D716D1}"/>
              </a:ext>
            </a:extLst>
          </p:cNvPr>
          <p:cNvSpPr/>
          <p:nvPr/>
        </p:nvSpPr>
        <p:spPr>
          <a:xfrm>
            <a:off x="406907" y="1069848"/>
            <a:ext cx="8366389" cy="143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JUNCTION X </a:t>
            </a:r>
            <a:r>
              <a:rPr lang="en-US" sz="1050" dirty="0" err="1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は、フィンランド発の国際ハッカソン「JUNCTION」のローカル版として</a:t>
            </a:r>
            <a:r>
              <a:rPr lang="ja-JP" altLang="en-US" sz="1050" dirty="0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世界各地で開催されている。</a:t>
            </a:r>
            <a:endParaRPr lang="en-US" altLang="ja-JP" sz="1050" dirty="0">
              <a:solidFill>
                <a:srgbClr val="D7E0EE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lnSpc>
                <a:spcPct val="128000"/>
              </a:lnSpc>
              <a:buNone/>
            </a:pPr>
            <a:endParaRPr lang="en-US" sz="1050" dirty="0"/>
          </a:p>
          <a:p>
            <a:pPr>
              <a:lnSpc>
                <a:spcPct val="128000"/>
              </a:lnSpc>
            </a:pPr>
            <a:r>
              <a:rPr lang="en-US" sz="1050" dirty="0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2025年6月、フィンランド・Aalto大学の学生起業家団体 Aaltoes </a:t>
            </a:r>
            <a:r>
              <a:rPr lang="en-US" sz="1050" dirty="0" err="1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との連携協定、およびJUNCTION本部とのライセンス契約の締結により、九州工業大学での開催が実現。</a:t>
            </a:r>
            <a:r>
              <a:rPr lang="en-US" altLang="ja-JP" sz="1050" dirty="0" err="1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JUNTION</a:t>
            </a:r>
            <a:r>
              <a:rPr lang="ja-JP" altLang="en-US" sz="1050" dirty="0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altLang="ja-JP" sz="1050" dirty="0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</a:t>
            </a:r>
            <a:r>
              <a:rPr lang="ja-JP" altLang="en-US" sz="1050" dirty="0">
                <a:solidFill>
                  <a:srgbClr val="D7E0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の日本初開催となった。</a:t>
            </a:r>
            <a:endParaRPr lang="en-US" altLang="ja-JP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2651760"/>
            <a:ext cx="4206240" cy="4206240"/>
          </a:xfrm>
          <a:prstGeom prst="ellipse">
            <a:avLst/>
          </a:prstGeom>
          <a:solidFill>
            <a:srgbClr val="16283F">
              <a:alpha val="6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1280160" y="-1645920"/>
            <a:ext cx="3657600" cy="3657600"/>
          </a:xfrm>
          <a:prstGeom prst="ellipse">
            <a:avLst/>
          </a:prstGeom>
          <a:solidFill>
            <a:srgbClr val="241A3E">
              <a:alpha val="6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コンセプト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WORLD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5E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Hack the World Interface —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50D924C-38EC-188A-5E3E-A03979BE5D34}"/>
              </a:ext>
            </a:extLst>
          </p:cNvPr>
          <p:cNvSpPr/>
          <p:nvPr/>
        </p:nvSpPr>
        <p:spPr>
          <a:xfrm>
            <a:off x="210312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世界をつなぎ、現実を動かすインターフェース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CONCEPT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現実世界で機能するシステムを、動く形で創る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E0EE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単なるアプリケーション開発ではなく、複数の技術を統合し、現実世界で機能するシステムの構築を目的とする。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E0EE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センサー・通信・AI・ロボットなどを組み合わせ、人の操作や環境の変化に応じて現実世界が反応する仕組みを、実際に動作する形で実装することを重視する。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93776" y="2487168"/>
            <a:ext cx="1426464" cy="137160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 w="12700">
            <a:solidFill>
              <a:srgbClr val="2BA89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2633472"/>
            <a:ext cx="475488" cy="475488"/>
          </a:xfrm>
          <a:prstGeom prst="ellipse">
            <a:avLst/>
          </a:prstGeom>
          <a:solidFill>
            <a:srgbClr val="2BA89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7" name="Image 0" descr="assets/ic_p_s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73405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" y="3182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3776" y="3474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901952" y="29900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176272" y="2487168"/>
            <a:ext cx="1426464" cy="137160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 w="12700">
            <a:solidFill>
              <a:srgbClr val="2BA89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51760" y="2633472"/>
            <a:ext cx="475488" cy="475488"/>
          </a:xfrm>
          <a:prstGeom prst="ellipse">
            <a:avLst/>
          </a:prstGeom>
          <a:solidFill>
            <a:srgbClr val="2BA89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3" name="Image 1" descr="assets/ic_p_co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344" y="273405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76272" y="3182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176272" y="3474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接続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584448" y="29900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858768" y="2487168"/>
            <a:ext cx="1426464" cy="137160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 w="12700">
            <a:solidFill>
              <a:srgbClr val="2BA89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334256" y="2633472"/>
            <a:ext cx="475488" cy="475488"/>
          </a:xfrm>
          <a:prstGeom prst="ellipse">
            <a:avLst/>
          </a:prstGeom>
          <a:solidFill>
            <a:srgbClr val="2BA89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9" name="Image 2" descr="assets/ic_p_int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273405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58768" y="3182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858768" y="3474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判断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266944" y="29900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541264" y="2487168"/>
            <a:ext cx="1426464" cy="137160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 w="12700">
            <a:solidFill>
              <a:srgbClr val="2BA89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016752" y="2633472"/>
            <a:ext cx="475488" cy="475488"/>
          </a:xfrm>
          <a:prstGeom prst="ellipse">
            <a:avLst/>
          </a:prstGeom>
          <a:solidFill>
            <a:srgbClr val="2BA89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5" name="Image 3" descr="assets/ic_p_phy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273405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41264" y="3182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5541264" y="3474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行動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949440" y="29900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223760" y="2487168"/>
            <a:ext cx="1426464" cy="137160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 w="12700">
            <a:solidFill>
              <a:srgbClr val="2BA894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7699248" y="2633472"/>
            <a:ext cx="475488" cy="475488"/>
          </a:xfrm>
          <a:prstGeom prst="ellipse">
            <a:avLst/>
          </a:prstGeom>
          <a:solidFill>
            <a:srgbClr val="2BA89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31" name="Image 4" descr="assets/ic_p_ex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9832" y="273405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31821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7223760" y="3474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体験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1280160" y="4160520"/>
            <a:ext cx="6583680" cy="621792"/>
          </a:xfrm>
          <a:prstGeom prst="roundRect">
            <a:avLst>
              <a:gd name="adj" fmla="val 14706"/>
            </a:avLst>
          </a:prstGeom>
          <a:solidFill>
            <a:srgbClr val="3EE6C9">
              <a:alpha val="12000"/>
            </a:srgbClr>
          </a:solidFill>
          <a:ln w="12700">
            <a:solidFill>
              <a:srgbClr val="3EE6C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1280160" y="416052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つなぐ × 判断する × 動く × 表現する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　システムとして成立させる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Track（テーマ）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3つのトラックから挑戦したいテーマを選び、プロダクトを開発します。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Extreme Environments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5E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as Constraint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3493008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02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1945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926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Connected Everywhere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025896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0"/>
          <p:cNvSpPr/>
          <p:nvPr/>
        </p:nvSpPr>
        <p:spPr>
          <a:xfrm>
            <a:off x="6254496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03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1945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4496" y="2926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the Physical World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想定する参加者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2679192" cy="1572768"/>
          </a:xfrm>
          <a:prstGeom prst="roundRect">
            <a:avLst>
              <a:gd name="adj" fmla="val 5233"/>
            </a:avLst>
          </a:prstGeom>
          <a:solidFill>
            <a:srgbClr val="151E31"/>
          </a:solidFill>
          <a:ln w="9525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" y="1536192"/>
            <a:ext cx="384048" cy="384048"/>
          </a:xfrm>
          <a:prstGeom prst="ellipse">
            <a:avLst/>
          </a:prstGeom>
          <a:solidFill>
            <a:srgbClr val="3EE6C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6" name="Image 0" descr="assets/ic_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62763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499616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フロントエンドエンジニア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役割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9D4E6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ユーザーとシステムをつなぐインターフェースを設計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位置づけ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操作と理解を支える「接点」を担う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29000" y="1389888"/>
            <a:ext cx="2679192" cy="1572768"/>
          </a:xfrm>
          <a:prstGeom prst="roundRect">
            <a:avLst>
              <a:gd name="adj" fmla="val 5233"/>
            </a:avLst>
          </a:prstGeom>
          <a:solidFill>
            <a:srgbClr val="151E31"/>
          </a:solidFill>
          <a:ln w="9525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75304" y="1536192"/>
            <a:ext cx="384048" cy="384048"/>
          </a:xfrm>
          <a:prstGeom prst="ellipse">
            <a:avLst/>
          </a:prstGeom>
          <a:solidFill>
            <a:srgbClr val="3EE6C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1" name="Image 1" descr="assets/ic_back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162763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0792" y="1499616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バックエンドエンジニア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611880" y="2011680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役割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9D4E6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内部処理および要素間の連携を設計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位置づけ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全体を機能させる中核部分を担う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309360" y="1389888"/>
            <a:ext cx="2679192" cy="1572768"/>
          </a:xfrm>
          <a:prstGeom prst="roundRect">
            <a:avLst>
              <a:gd name="adj" fmla="val 5233"/>
            </a:avLst>
          </a:prstGeom>
          <a:solidFill>
            <a:srgbClr val="151E31"/>
          </a:solidFill>
          <a:ln w="9525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55664" y="1536192"/>
            <a:ext cx="384048" cy="384048"/>
          </a:xfrm>
          <a:prstGeom prst="ellipse">
            <a:avLst/>
          </a:prstGeom>
          <a:solidFill>
            <a:srgbClr val="3EE6C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6" name="Image 2" descr="assets/ic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162763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31152" y="1499616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AIエンジニア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92240" y="2011680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役割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9D4E6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意思決定・判断ロジックを設計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位置づけ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「どのように振る舞うか」を決定する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163824"/>
            <a:ext cx="2679192" cy="1572768"/>
          </a:xfrm>
          <a:prstGeom prst="roundRect">
            <a:avLst>
              <a:gd name="adj" fmla="val 5233"/>
            </a:avLst>
          </a:prstGeom>
          <a:solidFill>
            <a:srgbClr val="151E31"/>
          </a:solidFill>
          <a:ln w="9525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94944" y="3310128"/>
            <a:ext cx="384048" cy="384048"/>
          </a:xfrm>
          <a:prstGeom prst="ellipse">
            <a:avLst/>
          </a:prstGeom>
          <a:solidFill>
            <a:srgbClr val="3EE6C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1" name="Image 3" descr="assets/ic_hardw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40156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273552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ロボティクス／ハードウェア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31520" y="3785616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役割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9D4E6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現実世界での動作・作用を実現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位置づけ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出力を実際の「動き」として具現化する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429000" y="3163824"/>
            <a:ext cx="2679192" cy="1572768"/>
          </a:xfrm>
          <a:prstGeom prst="roundRect">
            <a:avLst>
              <a:gd name="adj" fmla="val 5233"/>
            </a:avLst>
          </a:prstGeom>
          <a:solidFill>
            <a:srgbClr val="151E31"/>
          </a:solidFill>
          <a:ln w="9525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575304" y="3310128"/>
            <a:ext cx="384048" cy="384048"/>
          </a:xfrm>
          <a:prstGeom prst="ellipse">
            <a:avLst/>
          </a:prstGeom>
          <a:solidFill>
            <a:srgbClr val="3EE6C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6" name="Image 4" descr="assets/ic_archite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6744" y="340156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50792" y="3273552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システムデザイナー（アーキテクト）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611880" y="3785616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役割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9D4E6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システム全体の構成と設計を行う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位置づけ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俯瞰し、統合されたシステムとして成立させる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309360" y="3163824"/>
            <a:ext cx="2679192" cy="1572768"/>
          </a:xfrm>
          <a:prstGeom prst="roundRect">
            <a:avLst>
              <a:gd name="adj" fmla="val 5233"/>
            </a:avLst>
          </a:prstGeom>
          <a:solidFill>
            <a:srgbClr val="151E31"/>
          </a:solidFill>
          <a:ln w="9525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455664" y="3310128"/>
            <a:ext cx="384048" cy="384048"/>
          </a:xfrm>
          <a:prstGeom prst="ellipse">
            <a:avLst/>
          </a:prstGeom>
          <a:solidFill>
            <a:srgbClr val="3EE6C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31" name="Image 5" descr="assets/ic_u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401568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31152" y="3273552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UX／体験デザイナー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492240" y="3785616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役割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9D4E6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システム全体の体験設計を行う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EE6C9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位置づけ　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Meiryo" pitchFamily="34" charset="0"/>
                <a:ea typeface="Meiryo" pitchFamily="34" charset="-122"/>
                <a:cs typeface="Meiryo" pitchFamily="34" charset="-120"/>
              </a:rPr>
              <a:t>「使われるもの」から「価値ある体験」へ昇華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C8BA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使用言語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4747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051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公用語は英語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8288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31520" y="20299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英語で行うもの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アナウンス／デモ／最終プレゼンテーション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8288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4892040" y="20299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自由な言語でOK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92040" y="2514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開発中のチーム内での会話は英語でなくてもOK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38404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「英語に自信がない」は諦める理由になりません。国際イベントの空気を体験するチャンスです。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開催概要・賞金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16182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7101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124712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日程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2026年9月25日(金)  – 27日(日)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1929384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16182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488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00253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</a:t>
            </a:r>
            <a:endParaRPr lang="en-US" sz="100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GYMLABO（九州工業大学</a:t>
            </a: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戸畑キャンパス</a:t>
            </a: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280720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16182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2666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880360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大学生・開発者・デザイナー・プランナーなど、グローバルハッカソンに関心のある人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02920" y="3685032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16182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04488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758184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1チーム最大4名。個人応募もOK</a:t>
            </a:r>
            <a:r>
              <a:rPr lang="ja-JP" alt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806440" y="105156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1D2030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164803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24144" y="223324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3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PRIZES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6583680" y="294630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最優秀賞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200,000円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Golden Ticket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E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1｜9/25(金)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4088" y="1691640"/>
            <a:ext cx="2203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13:00–13:30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オープニングセレモニー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14:00–15:00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チームビルディング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16:00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ハッキング開始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19:00–20:00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64408" y="10515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465576" y="1234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E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2｜9/26(土)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65576" y="1691640"/>
            <a:ext cx="2203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終日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ハッキング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25896" y="10515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618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227064" y="1234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E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3｜9/27(日)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27064" y="1691640"/>
            <a:ext cx="2203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午前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最終開発セッション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12:00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昼食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プレゼン・デモ／審査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17:00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表彰式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18:00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ja-JP" alt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懇親会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※スケジュールは予告なく変更される場合があります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FAQ（よくある質問）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47472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0058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618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685800" y="107899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10789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参加費は？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11880" y="107899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無料。イベント中の食事・スナックは提供されます。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76479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D203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685800" y="183794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18379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選考はある？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11880" y="183794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先着順ではなく、応募フォームの回答内容をもとに選考します。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523744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618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685800" y="259689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97280" y="259689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1人でも応募できる？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11880" y="2596896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OK。</a:t>
            </a:r>
            <a:r>
              <a:rPr lang="ja-JP" altLang="en-US" sz="10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イベント初日に、</a:t>
            </a:r>
            <a:r>
              <a:rPr lang="en-US" sz="1050" dirty="0" err="1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チームビルディングがあります</a:t>
            </a:r>
            <a:r>
              <a:rPr lang="en-US" sz="10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282696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D203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685800" y="335584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97280" y="33558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交通費・宿泊は？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611880" y="335584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交通費・宿泊は自己負担。会場内に休憩スペースはあります。駐車場はないため公共交通機関を推奨。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404164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618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85800" y="411480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97280" y="41148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作品の知的財産権は？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611880" y="41148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チームに帰属します。運営側は一切の権利を主張しません。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206240" cy="4206240"/>
          </a:xfrm>
          <a:prstGeom prst="ellipse">
            <a:avLst/>
          </a:prstGeom>
          <a:solidFill>
            <a:srgbClr val="16283F">
              <a:alpha val="6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応募方法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応募フォームから今すぐエントリー！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922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459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forms.office.com/r/gVQ48R3J75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9431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応募フォームにアクセス</a:t>
            </a:r>
            <a:endParaRPr lang="en-US" sz="1300" dirty="0">
              <a:solidFill>
                <a:srgbClr val="FFFFFF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質問に回答して送信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選考結果</a:t>
            </a:r>
            <a:r>
              <a:rPr lang="ja-JP" alt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A3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最新情報：kyutech.hackjunction.com ／ X・Instagram も更新中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35E0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世界とつながる3日間。あなたの「つくる力」を待っています。</a:t>
            </a:r>
            <a:endParaRPr lang="en-US" sz="15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6DDB855-2F48-4E56-2DB9-201754F9B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97788" y="1878716"/>
            <a:ext cx="974212" cy="974212"/>
          </a:xfrm>
          <a:prstGeom prst="rect">
            <a:avLst/>
          </a:prstGeom>
        </p:spPr>
      </p:pic>
      <p:pic>
        <p:nvPicPr>
          <p:cNvPr id="13" name="図 12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027D8A78-F721-C933-37D8-B888352BC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375" y="3532767"/>
            <a:ext cx="485745" cy="485745"/>
          </a:xfrm>
          <a:prstGeom prst="rect">
            <a:avLst/>
          </a:prstGeom>
        </p:spPr>
      </p:pic>
      <p:pic>
        <p:nvPicPr>
          <p:cNvPr id="14" name="図 13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61497CDE-EA4A-2152-AE0E-67593F37E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2533" y="3532768"/>
            <a:ext cx="485745" cy="485745"/>
          </a:xfrm>
          <a:prstGeom prst="rect">
            <a:avLst/>
          </a:prstGeom>
        </p:spPr>
      </p:pic>
      <p:pic>
        <p:nvPicPr>
          <p:cNvPr id="11" name="図 10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3CED7957-88A7-0754-3AA1-C866ABE59B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534" y="1769364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1168AA2E974744AEA14D5D87F46B1F" ma:contentTypeVersion="15" ma:contentTypeDescription="新しいドキュメントを作成します。" ma:contentTypeScope="" ma:versionID="74605f7ebf3bc4a14902065a959362f6">
  <xsd:schema xmlns:xsd="http://www.w3.org/2001/XMLSchema" xmlns:xs="http://www.w3.org/2001/XMLSchema" xmlns:p="http://schemas.microsoft.com/office/2006/metadata/properties" xmlns:ns2="168f4a0c-872f-4b37-97be-894b7a041311" xmlns:ns3="d7b6fa09-b89a-404b-b31b-40067a06fe6e" targetNamespace="http://schemas.microsoft.com/office/2006/metadata/properties" ma:root="true" ma:fieldsID="71d7b9a4cf521bc54a6780a94d1cf653" ns2:_="" ns3:_="">
    <xsd:import namespace="168f4a0c-872f-4b37-97be-894b7a041311"/>
    <xsd:import namespace="d7b6fa09-b89a-404b-b31b-40067a06fe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f4a0c-872f-4b37-97be-894b7a0413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20911c13-7daa-4af7-adf8-fef2a7e9f6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6fa09-b89a-404b-b31b-40067a06fe6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43a8d76-4cdf-478f-a018-c2ee0adbefad}" ma:internalName="TaxCatchAll" ma:showField="CatchAllData" ma:web="d7b6fa09-b89a-404b-b31b-40067a06fe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b6fa09-b89a-404b-b31b-40067a06fe6e" xsi:nil="true"/>
    <lcf76f155ced4ddcb4097134ff3c332f xmlns="168f4a0c-872f-4b37-97be-894b7a0413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E158896-A199-45C8-9F79-B34C946451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BA2AAC-F281-4312-9B7D-3CF9EC3B38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8f4a0c-872f-4b37-97be-894b7a041311"/>
    <ds:schemaRef ds:uri="d7b6fa09-b89a-404b-b31b-40067a06fe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3F612D-0484-4B46-81AB-C54AA292D546}">
  <ds:schemaRefs>
    <ds:schemaRef ds:uri="http://schemas.microsoft.com/office/2006/metadata/properties"/>
    <ds:schemaRef ds:uri="http://schemas.microsoft.com/office/infopath/2007/PartnerControls"/>
    <ds:schemaRef ds:uri="d7b6fa09-b89a-404b-b31b-40067a06fe6e"/>
    <ds:schemaRef ds:uri="168f4a0c-872f-4b37-97be-894b7a04131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479</Words>
  <Application>Microsoft Office PowerPoint</Application>
  <PresentationFormat>画面に合わせる (16:9)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Meiryo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JUNCTION X KYUTECH 2026</dc:title>
  <dc:subject>PptxGenJS Presentation</dc:subject>
  <dc:creator>PptxGenJS</dc:creator>
  <cp:lastModifiedBy>松浦 水咲</cp:lastModifiedBy>
  <cp:revision>2</cp:revision>
  <dcterms:created xsi:type="dcterms:W3CDTF">2026-07-08T01:17:32Z</dcterms:created>
  <dcterms:modified xsi:type="dcterms:W3CDTF">2026-07-10T01:14:20Z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0x010100CF1168AA2E974744AEA14D5D87F46B1F</vt:lpwstr>
  </property>
  <property fmtid="{D5CDD505-2E9C-101B-9397-08002B2CF9AE}" pid="3" name="MediaServiceImageTags">
    <vt:lpwstr/>
  </property>
</Properties>
</file>